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5" r:id="rId2"/>
    <p:sldId id="257" r:id="rId3"/>
    <p:sldId id="284" r:id="rId4"/>
    <p:sldId id="283" r:id="rId5"/>
    <p:sldId id="265" r:id="rId6"/>
    <p:sldId id="259" r:id="rId7"/>
    <p:sldId id="260" r:id="rId8"/>
    <p:sldId id="261" r:id="rId9"/>
    <p:sldId id="269" r:id="rId10"/>
    <p:sldId id="271" r:id="rId11"/>
    <p:sldId id="272" r:id="rId12"/>
    <p:sldId id="274" r:id="rId13"/>
    <p:sldId id="276" r:id="rId14"/>
    <p:sldId id="280" r:id="rId15"/>
    <p:sldId id="263" r:id="rId16"/>
    <p:sldId id="264" r:id="rId17"/>
    <p:sldId id="281" r:id="rId18"/>
    <p:sldId id="282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DC873F-A11C-4A82-91D6-FBDC98FCA102}" v="103" dt="2025-11-18T13:39:33.5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82" autoAdjust="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240" y="2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34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730A66-C58D-DC4C-4FEC-D5FEF3B6B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BDEBB-35A6-362C-71B9-28D3E7AF4C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7400" y="2011680"/>
            <a:ext cx="7772400" cy="978535"/>
          </a:xfrm>
        </p:spPr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Customer Segmentation Analysis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2E8304-A6A1-FA8D-3F6F-4485B690DADE}"/>
              </a:ext>
            </a:extLst>
          </p:cNvPr>
          <p:cNvSpPr txBox="1"/>
          <p:nvPr/>
        </p:nvSpPr>
        <p:spPr>
          <a:xfrm>
            <a:off x="2387600" y="3259723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solidFill>
                  <a:srgbClr val="C8C8DC"/>
                </a:solidFill>
              </a:defRPr>
            </a:pPr>
            <a:r>
              <a:rPr lang="en-GB" sz="1600" dirty="0"/>
              <a:t>Strategic Insights  • Data-Driven Decision Making</a:t>
            </a:r>
          </a:p>
        </p:txBody>
      </p:sp>
    </p:spTree>
    <p:extLst>
      <p:ext uri="{BB962C8B-B14F-4D97-AF65-F5344CB8AC3E}">
        <p14:creationId xmlns:p14="http://schemas.microsoft.com/office/powerpoint/2010/main" val="2010096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8229600" cy="710882"/>
          </a:xfrm>
        </p:spPr>
        <p:txBody>
          <a:bodyPr>
            <a:normAutofit/>
          </a:bodyPr>
          <a:lstStyle/>
          <a:p>
            <a:r>
              <a:rPr lang="en-GB" sz="3600" dirty="0"/>
              <a:t>Table of Content</a:t>
            </a:r>
            <a:endParaRPr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320" y="863600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lang="en-GB" sz="1800" dirty="0"/>
              <a:t>Introduction</a:t>
            </a:r>
          </a:p>
          <a:p>
            <a:r>
              <a:rPr lang="en-GB" sz="1800" dirty="0"/>
              <a:t>Workflow</a:t>
            </a:r>
          </a:p>
          <a:p>
            <a:r>
              <a:rPr lang="en-GB" sz="1800" dirty="0"/>
              <a:t>Dashboard</a:t>
            </a:r>
          </a:p>
          <a:p>
            <a:r>
              <a:rPr lang="en-GB" sz="1800" dirty="0"/>
              <a:t>Sales &amp; Profit by Customer Segment</a:t>
            </a:r>
          </a:p>
          <a:p>
            <a:r>
              <a:rPr lang="en-GB" sz="1800" dirty="0"/>
              <a:t>Top Regions and Cities by Revenue</a:t>
            </a:r>
          </a:p>
          <a:p>
            <a:r>
              <a:rPr lang="en-GB" sz="1800" dirty="0"/>
              <a:t>Category and Sub-Category Contribution</a:t>
            </a:r>
          </a:p>
          <a:p>
            <a:r>
              <a:rPr lang="en-GB" sz="1800" dirty="0"/>
              <a:t>Order Priority vs Profitability Correlation</a:t>
            </a:r>
          </a:p>
          <a:p>
            <a:r>
              <a:rPr lang="en-GB" sz="1800" dirty="0"/>
              <a:t>Shipping Mode Analysis</a:t>
            </a:r>
          </a:p>
          <a:p>
            <a:r>
              <a:rPr lang="en-GB" sz="1800" dirty="0"/>
              <a:t>Shipping Mode Impact on Profit Margins</a:t>
            </a:r>
          </a:p>
          <a:p>
            <a:r>
              <a:rPr lang="en-GB" sz="1800" dirty="0"/>
              <a:t>Most Profitable Segments and Categories</a:t>
            </a:r>
          </a:p>
          <a:p>
            <a:r>
              <a:rPr lang="en-GB" sz="1800" dirty="0"/>
              <a:t>Discount Impact on Sales &amp; Profitability</a:t>
            </a:r>
          </a:p>
          <a:p>
            <a:r>
              <a:rPr lang="en-GB" sz="1800" dirty="0"/>
              <a:t>Yearly and Quarterly Sales Trend</a:t>
            </a:r>
          </a:p>
          <a:p>
            <a:r>
              <a:rPr lang="en-GB" sz="1800" dirty="0"/>
              <a:t>Customer Lifetime Value (CLV) Across Segments</a:t>
            </a:r>
          </a:p>
          <a:p>
            <a:r>
              <a:rPr lang="en-GB" sz="1800" dirty="0"/>
              <a:t>Segment Performance Across Global Regions</a:t>
            </a:r>
          </a:p>
          <a:p>
            <a:r>
              <a:rPr lang="en-GB" sz="1800" dirty="0"/>
              <a:t>Recommendations</a:t>
            </a:r>
          </a:p>
          <a:p>
            <a:pPr marL="0" indent="0">
              <a:buNone/>
            </a:pPr>
            <a:endParaRPr lang="en-GB" sz="1600" dirty="0"/>
          </a:p>
          <a:p>
            <a:endParaRPr lang="en-GB" dirty="0"/>
          </a:p>
          <a:p>
            <a:endParaRPr lang="en-GB" dirty="0"/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3A29D2-AADE-59D4-FAC2-55045ACA2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E6820-61F8-1A7F-6F24-058343550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41362"/>
          </a:xfrm>
        </p:spPr>
        <p:txBody>
          <a:bodyPr>
            <a:normAutofit/>
          </a:bodyPr>
          <a:lstStyle/>
          <a:p>
            <a:r>
              <a:rPr lang="en-GB" sz="3200" u="sng" dirty="0"/>
              <a:t>Introduction</a:t>
            </a:r>
            <a:endParaRPr sz="3200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152A4-7D27-03F7-566D-DDAE35771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1356360"/>
            <a:ext cx="8229600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1800" dirty="0"/>
              <a:t>This project presents a comprehensive customer segmentation analysis built in Power BI, leveraging a real-world dataset to uncover strategic insights across segments, regions, product categories, and operational processes. </a:t>
            </a:r>
          </a:p>
          <a:p>
            <a:pPr marL="0" indent="0" algn="just">
              <a:buNone/>
            </a:pPr>
            <a:r>
              <a:rPr lang="en-GB" sz="1800" dirty="0"/>
              <a:t>Through end-to-end data preparation, modelling, and visualization, the analysis identifies key drivers of revenue, profitability, customer value, and service efficiency, culminating in an interactive, decision-ready dashboard.</a:t>
            </a:r>
          </a:p>
          <a:p>
            <a:pPr marL="0" indent="0" algn="just">
              <a:buNone/>
            </a:pPr>
            <a:r>
              <a:rPr lang="en-GB" sz="1800" dirty="0"/>
              <a:t>The objective of this work is to demonstrate capability in transforming raw data into actionable intelligence that supports commercial strategy, operational optimization, and customer-centric decision-making.</a:t>
            </a:r>
          </a:p>
          <a:p>
            <a:pPr marL="0" indent="0" algn="just">
              <a:buNone/>
            </a:pP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490709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51D35B-7BA7-C27F-8398-C68839CE9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2721D-9366-FA84-4CE5-0706DDE29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Workflow</a:t>
            </a:r>
            <a:endParaRPr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203AAF0-F973-A3D0-7518-DFEE1C57905A}"/>
              </a:ext>
            </a:extLst>
          </p:cNvPr>
          <p:cNvGrpSpPr/>
          <p:nvPr/>
        </p:nvGrpSpPr>
        <p:grpSpPr>
          <a:xfrm>
            <a:off x="1249461" y="1918968"/>
            <a:ext cx="6848278" cy="2640053"/>
            <a:chOff x="1433662" y="2157901"/>
            <a:chExt cx="9131037" cy="352007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AEE501E-D5E5-BE6B-C04B-25DFE621F605}"/>
                </a:ext>
              </a:extLst>
            </p:cNvPr>
            <p:cNvGrpSpPr/>
            <p:nvPr/>
          </p:nvGrpSpPr>
          <p:grpSpPr>
            <a:xfrm>
              <a:off x="1433662" y="2157901"/>
              <a:ext cx="9131037" cy="3520071"/>
              <a:chOff x="1530481" y="1469412"/>
              <a:chExt cx="9131037" cy="3520071"/>
            </a:xfrm>
          </p:grpSpPr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802CA630-CFF4-7FF6-9E8A-909C9807A9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97617" y="4042810"/>
                <a:ext cx="1531098" cy="559985"/>
              </a:xfrm>
              <a:prstGeom prst="rect">
                <a:avLst/>
              </a:prstGeom>
            </p:spPr>
          </p:pic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A140F25F-3D56-66D2-AF4D-50258F275D88}"/>
                  </a:ext>
                </a:extLst>
              </p:cNvPr>
              <p:cNvGrpSpPr/>
              <p:nvPr/>
            </p:nvGrpSpPr>
            <p:grpSpPr>
              <a:xfrm>
                <a:off x="1530481" y="3070916"/>
                <a:ext cx="9131037" cy="431961"/>
                <a:chOff x="1530481" y="3113240"/>
                <a:chExt cx="9131037" cy="431961"/>
              </a:xfrm>
            </p:grpSpPr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0FD964E0-CD8F-97C4-A632-ECE2BDE5F09D}"/>
                    </a:ext>
                  </a:extLst>
                </p:cNvPr>
                <p:cNvGrpSpPr/>
                <p:nvPr/>
              </p:nvGrpSpPr>
              <p:grpSpPr>
                <a:xfrm>
                  <a:off x="1530481" y="3113240"/>
                  <a:ext cx="9131036" cy="431961"/>
                  <a:chOff x="846058" y="3708250"/>
                  <a:chExt cx="8400693" cy="431961"/>
                </a:xfrm>
              </p:grpSpPr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C20614CD-7ED4-F88F-0B9C-5CCF0EA0592D}"/>
                      </a:ext>
                    </a:extLst>
                  </p:cNvPr>
                  <p:cNvSpPr/>
                  <p:nvPr/>
                </p:nvSpPr>
                <p:spPr>
                  <a:xfrm>
                    <a:off x="846058" y="3708250"/>
                    <a:ext cx="2103120" cy="431961"/>
                  </a:xfrm>
                  <a:prstGeom prst="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Autofit/>
                  </a:bodyPr>
                  <a:lstStyle/>
                  <a:p>
                    <a:pPr algn="ctr"/>
                    <a:endParaRPr lang="en-US" sz="1350"/>
                  </a:p>
                </p:txBody>
              </p:sp>
              <p:sp>
                <p:nvSpPr>
                  <p:cNvPr id="34" name="Rectangle 33">
                    <a:extLst>
                      <a:ext uri="{FF2B5EF4-FFF2-40B4-BE49-F238E27FC236}">
                        <a16:creationId xmlns:a16="http://schemas.microsoft.com/office/drawing/2014/main" id="{9188EA62-357B-5DC8-FBAB-EF4608F97F16}"/>
                      </a:ext>
                    </a:extLst>
                  </p:cNvPr>
                  <p:cNvSpPr/>
                  <p:nvPr/>
                </p:nvSpPr>
                <p:spPr>
                  <a:xfrm flipH="1">
                    <a:off x="7143631" y="3708250"/>
                    <a:ext cx="2103120" cy="431961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Autofit/>
                  </a:bodyPr>
                  <a:lstStyle/>
                  <a:p>
                    <a:pPr algn="ctr"/>
                    <a:endParaRPr lang="en-US" sz="1350"/>
                  </a:p>
                </p:txBody>
              </p:sp>
              <p:sp>
                <p:nvSpPr>
                  <p:cNvPr id="35" name="Rectangle 34">
                    <a:extLst>
                      <a:ext uri="{FF2B5EF4-FFF2-40B4-BE49-F238E27FC236}">
                        <a16:creationId xmlns:a16="http://schemas.microsoft.com/office/drawing/2014/main" id="{CBDDFF9B-6B65-DE0C-4B89-0E13DDF0407F}"/>
                      </a:ext>
                    </a:extLst>
                  </p:cNvPr>
                  <p:cNvSpPr/>
                  <p:nvPr/>
                </p:nvSpPr>
                <p:spPr>
                  <a:xfrm flipH="1">
                    <a:off x="5044440" y="3708250"/>
                    <a:ext cx="2103120" cy="431961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Autofit/>
                  </a:bodyPr>
                  <a:lstStyle/>
                  <a:p>
                    <a:pPr algn="ctr"/>
                    <a:endParaRPr lang="en-US" sz="1350"/>
                  </a:p>
                </p:txBody>
              </p:sp>
              <p:sp>
                <p:nvSpPr>
                  <p:cNvPr id="36" name="Rectangle 35">
                    <a:extLst>
                      <a:ext uri="{FF2B5EF4-FFF2-40B4-BE49-F238E27FC236}">
                        <a16:creationId xmlns:a16="http://schemas.microsoft.com/office/drawing/2014/main" id="{438B00B3-8445-551E-7213-3572C024D8C4}"/>
                      </a:ext>
                    </a:extLst>
                  </p:cNvPr>
                  <p:cNvSpPr/>
                  <p:nvPr/>
                </p:nvSpPr>
                <p:spPr>
                  <a:xfrm flipH="1">
                    <a:off x="2945249" y="3708250"/>
                    <a:ext cx="2103120" cy="431961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>
                    <a:noAutofit/>
                  </a:bodyPr>
                  <a:lstStyle/>
                  <a:p>
                    <a:pPr algn="ctr"/>
                    <a:endParaRPr lang="en-US" sz="1350"/>
                  </a:p>
                </p:txBody>
              </p:sp>
            </p:grp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E942B37B-BBBC-2D2D-FB61-CEB67A2664B3}"/>
                    </a:ext>
                  </a:extLst>
                </p:cNvPr>
                <p:cNvSpPr/>
                <p:nvPr/>
              </p:nvSpPr>
              <p:spPr>
                <a:xfrm>
                  <a:off x="1530481" y="3315503"/>
                  <a:ext cx="9131037" cy="4571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84A8FA60-3365-769E-8718-D7D8A2909E8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559162" y="3224062"/>
                  <a:ext cx="228600" cy="228600"/>
                </a:xfrm>
                <a:prstGeom prst="ellipse">
                  <a:avLst/>
                </a:prstGeom>
                <a:solidFill>
                  <a:schemeClr val="accent6"/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025"/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2B240D51-0BAA-D80C-7BF6-7DC84310732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flipH="1">
                  <a:off x="4830861" y="3196719"/>
                  <a:ext cx="228600" cy="228600"/>
                </a:xfrm>
                <a:prstGeom prst="ellipse">
                  <a:avLst/>
                </a:prstGeom>
                <a:solidFill>
                  <a:schemeClr val="accent4"/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025"/>
                </a:p>
              </p:txBody>
            </p:sp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5AA6D683-8032-6381-405C-8962100C02D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flipH="1">
                  <a:off x="7222582" y="3224062"/>
                  <a:ext cx="228600" cy="228600"/>
                </a:xfrm>
                <a:prstGeom prst="ellipse">
                  <a:avLst/>
                </a:prstGeom>
                <a:solidFill>
                  <a:schemeClr val="accent3"/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025"/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160212C8-CE67-61F4-60F1-F3655CBA683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flipH="1">
                  <a:off x="9404237" y="3214920"/>
                  <a:ext cx="228600" cy="228600"/>
                </a:xfrm>
                <a:prstGeom prst="ellipse">
                  <a:avLst/>
                </a:prstGeom>
                <a:solidFill>
                  <a:schemeClr val="accent2"/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025"/>
                </a:p>
              </p:txBody>
            </p:sp>
          </p:grp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E390CE71-E23D-D498-54F2-DAAAE6AA356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63166" y="3447663"/>
                <a:ext cx="1" cy="548640"/>
              </a:xfrm>
              <a:prstGeom prst="line">
                <a:avLst/>
              </a:prstGeom>
              <a:ln w="31750">
                <a:solidFill>
                  <a:schemeClr val="accent6"/>
                </a:solidFill>
                <a:head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0608B529-3CF3-4564-C43B-86FD234031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45160" y="2564016"/>
                <a:ext cx="1" cy="548640"/>
              </a:xfrm>
              <a:prstGeom prst="line">
                <a:avLst/>
              </a:prstGeom>
              <a:ln w="31750">
                <a:solidFill>
                  <a:schemeClr val="accent4"/>
                </a:solidFill>
                <a:head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35B94897-0DE7-D669-332D-031D2BAB0CE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36882" y="3494170"/>
                <a:ext cx="0" cy="548640"/>
              </a:xfrm>
              <a:prstGeom prst="line">
                <a:avLst/>
              </a:prstGeom>
              <a:ln w="31750">
                <a:solidFill>
                  <a:schemeClr val="accent3"/>
                </a:solidFill>
                <a:head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1F612256-B775-9DB0-2955-E44B15B49D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11001" y="2559859"/>
                <a:ext cx="6447" cy="548640"/>
              </a:xfrm>
              <a:prstGeom prst="line">
                <a:avLst/>
              </a:prstGeom>
              <a:ln w="31750">
                <a:solidFill>
                  <a:schemeClr val="accent2"/>
                </a:solidFill>
                <a:head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4" name="Picture 23" descr="A green square with a white x in it&#10;&#10;AI-generated content may be incorrect.">
                <a:extLst>
                  <a:ext uri="{FF2B5EF4-FFF2-40B4-BE49-F238E27FC236}">
                    <a16:creationId xmlns:a16="http://schemas.microsoft.com/office/drawing/2014/main" id="{232FBCAB-8C3A-178B-2006-6E8F8225DA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297713" y="1510603"/>
                <a:ext cx="1066295" cy="989316"/>
              </a:xfrm>
              <a:prstGeom prst="rect">
                <a:avLst/>
              </a:prstGeom>
            </p:spPr>
          </p:pic>
          <p:pic>
            <p:nvPicPr>
              <p:cNvPr id="25" name="Picture 24" descr="A yellow folders with a black background&#10;&#10;AI-generated content may be incorrect.">
                <a:extLst>
                  <a:ext uri="{FF2B5EF4-FFF2-40B4-BE49-F238E27FC236}">
                    <a16:creationId xmlns:a16="http://schemas.microsoft.com/office/drawing/2014/main" id="{35A65449-0840-6672-7964-C64E32B9E8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609695" y="4042810"/>
                <a:ext cx="1682974" cy="946673"/>
              </a:xfrm>
              <a:prstGeom prst="rect">
                <a:avLst/>
              </a:prstGeom>
            </p:spPr>
          </p:pic>
          <p:pic>
            <p:nvPicPr>
              <p:cNvPr id="26" name="Picture 25" descr="A logo of a company&#10;&#10;AI-generated content may be incorrect.">
                <a:extLst>
                  <a:ext uri="{FF2B5EF4-FFF2-40B4-BE49-F238E27FC236}">
                    <a16:creationId xmlns:a16="http://schemas.microsoft.com/office/drawing/2014/main" id="{D35031AA-9272-8652-C6A5-5A2A2AC8AF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16343" y="1469412"/>
                <a:ext cx="989316" cy="989316"/>
              </a:xfrm>
              <a:prstGeom prst="rect">
                <a:avLst/>
              </a:prstGeom>
            </p:spPr>
          </p:pic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065219A-E10D-CB45-1A25-2906CEAB466D}"/>
                </a:ext>
              </a:extLst>
            </p:cNvPr>
            <p:cNvGrpSpPr/>
            <p:nvPr/>
          </p:nvGrpSpPr>
          <p:grpSpPr>
            <a:xfrm>
              <a:off x="8671724" y="4286419"/>
              <a:ext cx="1497810" cy="595630"/>
              <a:chOff x="374837" y="3106420"/>
              <a:chExt cx="1497810" cy="595630"/>
            </a:xfrm>
          </p:grpSpPr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961C683D-20D8-1027-5F2F-ADE7F4117DD8}"/>
                  </a:ext>
                </a:extLst>
              </p:cNvPr>
              <p:cNvSpPr/>
              <p:nvPr/>
            </p:nvSpPr>
            <p:spPr>
              <a:xfrm>
                <a:off x="374837" y="3106420"/>
                <a:ext cx="1497810" cy="595630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GB" sz="1350"/>
              </a:p>
            </p:txBody>
          </p:sp>
          <p:sp>
            <p:nvSpPr>
              <p:cNvPr id="17" name="Rectangle: Rounded Corners 4">
                <a:extLst>
                  <a:ext uri="{FF2B5EF4-FFF2-40B4-BE49-F238E27FC236}">
                    <a16:creationId xmlns:a16="http://schemas.microsoft.com/office/drawing/2014/main" id="{84F34FE9-FAB3-6DC6-A359-8D597A05BA87}"/>
                  </a:ext>
                </a:extLst>
              </p:cNvPr>
              <p:cNvSpPr txBox="1"/>
              <p:nvPr/>
            </p:nvSpPr>
            <p:spPr>
              <a:xfrm>
                <a:off x="392282" y="3123865"/>
                <a:ext cx="1462920" cy="56074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20003" tIns="13335" rIns="20003" bIns="13335" numCol="1" spcCol="1270" anchor="ctr" anchorCtr="0">
                <a:noAutofit/>
              </a:bodyPr>
              <a:lstStyle/>
              <a:p>
                <a:pPr algn="ctr" defTabSz="466725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050"/>
                  <a:t>Reporting and Recommendation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942DA67-0D6C-FB90-150C-D212E6BAD06A}"/>
                </a:ext>
              </a:extLst>
            </p:cNvPr>
            <p:cNvGrpSpPr/>
            <p:nvPr/>
          </p:nvGrpSpPr>
          <p:grpSpPr>
            <a:xfrm>
              <a:off x="4111332" y="4295263"/>
              <a:ext cx="1497810" cy="595630"/>
              <a:chOff x="374837" y="3106420"/>
              <a:chExt cx="1497810" cy="595630"/>
            </a:xfrm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B0A647AF-AF7A-70DD-5B94-70B2A8C7B665}"/>
                  </a:ext>
                </a:extLst>
              </p:cNvPr>
              <p:cNvSpPr/>
              <p:nvPr/>
            </p:nvSpPr>
            <p:spPr>
              <a:xfrm>
                <a:off x="374837" y="3106420"/>
                <a:ext cx="1497810" cy="595630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GB" sz="1350"/>
              </a:p>
            </p:txBody>
          </p:sp>
          <p:sp>
            <p:nvSpPr>
              <p:cNvPr id="15" name="Rectangle: Rounded Corners 4">
                <a:extLst>
                  <a:ext uri="{FF2B5EF4-FFF2-40B4-BE49-F238E27FC236}">
                    <a16:creationId xmlns:a16="http://schemas.microsoft.com/office/drawing/2014/main" id="{000084EE-951A-FD21-4C7C-572CF35EBEC4}"/>
                  </a:ext>
                </a:extLst>
              </p:cNvPr>
              <p:cNvSpPr txBox="1"/>
              <p:nvPr/>
            </p:nvSpPr>
            <p:spPr>
              <a:xfrm>
                <a:off x="392282" y="3123865"/>
                <a:ext cx="1462920" cy="56074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20003" tIns="13335" rIns="20003" bIns="13335" numCol="1" spcCol="1270" anchor="ctr" anchorCtr="0">
                <a:noAutofit/>
              </a:bodyPr>
              <a:lstStyle/>
              <a:p>
                <a:pPr algn="ctr" defTabSz="466725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050"/>
                  <a:t>Data Cleansing, Analysis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6B0B6A2-BDB5-EDDD-1167-6F26AC820A01}"/>
                </a:ext>
              </a:extLst>
            </p:cNvPr>
            <p:cNvGrpSpPr/>
            <p:nvPr/>
          </p:nvGrpSpPr>
          <p:grpSpPr>
            <a:xfrm>
              <a:off x="6491158" y="3056893"/>
              <a:ext cx="1497810" cy="595630"/>
              <a:chOff x="374837" y="3106420"/>
              <a:chExt cx="1497810" cy="595630"/>
            </a:xfrm>
          </p:grpSpPr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3B882E21-9830-5BBA-07A6-407908B99594}"/>
                  </a:ext>
                </a:extLst>
              </p:cNvPr>
              <p:cNvSpPr/>
              <p:nvPr/>
            </p:nvSpPr>
            <p:spPr>
              <a:xfrm>
                <a:off x="374837" y="3106420"/>
                <a:ext cx="1497810" cy="595630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GB" sz="1350"/>
              </a:p>
            </p:txBody>
          </p:sp>
          <p:sp>
            <p:nvSpPr>
              <p:cNvPr id="13" name="Rectangle: Rounded Corners 4">
                <a:extLst>
                  <a:ext uri="{FF2B5EF4-FFF2-40B4-BE49-F238E27FC236}">
                    <a16:creationId xmlns:a16="http://schemas.microsoft.com/office/drawing/2014/main" id="{DEDB8325-599D-D7AB-0E8A-EBF828DDD217}"/>
                  </a:ext>
                </a:extLst>
              </p:cNvPr>
              <p:cNvSpPr txBox="1"/>
              <p:nvPr/>
            </p:nvSpPr>
            <p:spPr>
              <a:xfrm>
                <a:off x="392282" y="3123865"/>
                <a:ext cx="1462920" cy="56074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20003" tIns="13335" rIns="20003" bIns="13335" numCol="1" spcCol="1270" anchor="ctr" anchorCtr="0">
                <a:noAutofit/>
              </a:bodyPr>
              <a:lstStyle/>
              <a:p>
                <a:pPr algn="ctr" defTabSz="466725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050"/>
                  <a:t>Data Modelling, Visualization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7639FCE-B44C-CF46-3DA0-24C815CDDF9F}"/>
                </a:ext>
              </a:extLst>
            </p:cNvPr>
            <p:cNvGrpSpPr/>
            <p:nvPr/>
          </p:nvGrpSpPr>
          <p:grpSpPr>
            <a:xfrm>
              <a:off x="1826693" y="3062752"/>
              <a:ext cx="1497810" cy="595630"/>
              <a:chOff x="215044" y="3106420"/>
              <a:chExt cx="1497810" cy="595630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4A678176-8AC0-F730-034C-90F5DCE59F49}"/>
                  </a:ext>
                </a:extLst>
              </p:cNvPr>
              <p:cNvSpPr/>
              <p:nvPr/>
            </p:nvSpPr>
            <p:spPr>
              <a:xfrm>
                <a:off x="215044" y="3106420"/>
                <a:ext cx="1497810" cy="595630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GB" sz="1350"/>
              </a:p>
            </p:txBody>
          </p:sp>
          <p:sp>
            <p:nvSpPr>
              <p:cNvPr id="11" name="Rectangle: Rounded Corners 4">
                <a:extLst>
                  <a:ext uri="{FF2B5EF4-FFF2-40B4-BE49-F238E27FC236}">
                    <a16:creationId xmlns:a16="http://schemas.microsoft.com/office/drawing/2014/main" id="{FBA521CE-B79D-6B81-62FE-A9CB717EC2C4}"/>
                  </a:ext>
                </a:extLst>
              </p:cNvPr>
              <p:cNvSpPr txBox="1"/>
              <p:nvPr/>
            </p:nvSpPr>
            <p:spPr>
              <a:xfrm>
                <a:off x="232483" y="3123865"/>
                <a:ext cx="1462920" cy="56074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20003" tIns="13335" rIns="20003" bIns="13335" numCol="1" spcCol="1270" anchor="ctr" anchorCtr="0">
                <a:noAutofit/>
              </a:bodyPr>
              <a:lstStyle/>
              <a:p>
                <a:pPr algn="ctr" defTabSz="466725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050"/>
                  <a:t>Data Extraction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37377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" y="152400"/>
            <a:ext cx="9022080" cy="477520"/>
          </a:xfrm>
        </p:spPr>
        <p:txBody>
          <a:bodyPr>
            <a:normAutofit fontScale="90000"/>
          </a:bodyPr>
          <a:lstStyle/>
          <a:p>
            <a:r>
              <a:rPr lang="en-GB" sz="2800" b="1" dirty="0"/>
              <a:t>SUMMARY OF KEY INSIGHTS</a:t>
            </a:r>
            <a:endParaRPr sz="28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D9FE91-021E-DF20-215E-1F3FD2FCE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0110"/>
            <a:ext cx="9144000" cy="597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919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u="sng" dirty="0"/>
              <a:t>Sales &amp; Profit by Customer Segment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65D422-6E65-C719-DBF9-155DCA61C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996" y="1553228"/>
            <a:ext cx="4459264" cy="18757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22E124-E1A1-B691-439D-E27487A87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996" y="3564590"/>
            <a:ext cx="4459264" cy="20971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FCB773-8967-1654-B463-DD4A3B552C24}"/>
              </a:ext>
            </a:extLst>
          </p:cNvPr>
          <p:cNvSpPr txBox="1"/>
          <p:nvPr/>
        </p:nvSpPr>
        <p:spPr>
          <a:xfrm>
            <a:off x="4697260" y="1540703"/>
            <a:ext cx="4296428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cs typeface="Arial" panose="020B0604020202020204" pitchFamily="34" charset="0"/>
              </a:rPr>
              <a:t>The sales distribution shows a clear dominance of the Consumer segment:</a:t>
            </a:r>
          </a:p>
          <a:p>
            <a:r>
              <a:rPr lang="en-GB" sz="1400" b="1" dirty="0">
                <a:cs typeface="Arial" panose="020B0604020202020204" pitchFamily="34" charset="0"/>
              </a:rPr>
              <a:t>Consumer</a:t>
            </a:r>
            <a:r>
              <a:rPr lang="en-GB" sz="1400" dirty="0">
                <a:cs typeface="Arial" panose="020B0604020202020204" pitchFamily="34" charset="0"/>
              </a:rPr>
              <a:t>: £6.5M is the largest contributor, accounting for most of the total revenue.</a:t>
            </a:r>
          </a:p>
          <a:p>
            <a:r>
              <a:rPr lang="en-GB" sz="1400" b="1" dirty="0">
                <a:cs typeface="Arial" panose="020B0604020202020204" pitchFamily="34" charset="0"/>
              </a:rPr>
              <a:t>Corporate</a:t>
            </a:r>
            <a:r>
              <a:rPr lang="en-GB" sz="1400" dirty="0">
                <a:cs typeface="Arial" panose="020B0604020202020204" pitchFamily="34" charset="0"/>
              </a:rPr>
              <a:t>: £3.8M is a strong but secondary segment.</a:t>
            </a:r>
          </a:p>
          <a:p>
            <a:r>
              <a:rPr lang="en-GB" sz="1400" b="1" dirty="0">
                <a:cs typeface="Arial" panose="020B0604020202020204" pitchFamily="34" charset="0"/>
              </a:rPr>
              <a:t>Home Office</a:t>
            </a:r>
            <a:r>
              <a:rPr lang="en-GB" sz="1400" dirty="0">
                <a:cs typeface="Arial" panose="020B0604020202020204" pitchFamily="34" charset="0"/>
              </a:rPr>
              <a:t>: £2.3M is the smallest revenue generator.</a:t>
            </a:r>
          </a:p>
          <a:p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CF16A6-1011-9F71-80CA-408D2F9DFAAA}"/>
              </a:ext>
            </a:extLst>
          </p:cNvPr>
          <p:cNvSpPr txBox="1"/>
          <p:nvPr/>
        </p:nvSpPr>
        <p:spPr>
          <a:xfrm>
            <a:off x="4697260" y="3564590"/>
            <a:ext cx="429642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400" b="1" dirty="0">
                <a:cs typeface="Arial" panose="020B0604020202020204" pitchFamily="34" charset="0"/>
              </a:rPr>
              <a:t>Consumer</a:t>
            </a:r>
            <a:r>
              <a:rPr lang="en-GB" sz="1400" dirty="0">
                <a:cs typeface="Arial" panose="020B0604020202020204" pitchFamily="34" charset="0"/>
              </a:rPr>
              <a:t>: £0.75M is the most profitable segment, representing the largest share of overall profit.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b="1" dirty="0">
                <a:cs typeface="Arial" panose="020B0604020202020204" pitchFamily="34" charset="0"/>
              </a:rPr>
              <a:t>Corporate</a:t>
            </a:r>
            <a:r>
              <a:rPr lang="en-GB" sz="1400" dirty="0">
                <a:cs typeface="Arial" panose="020B0604020202020204" pitchFamily="34" charset="0"/>
              </a:rPr>
              <a:t>: £0.44M , moderate profit contributor; potential for targeted upselling.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b="1" dirty="0">
                <a:cs typeface="Arial" panose="020B0604020202020204" pitchFamily="34" charset="0"/>
              </a:rPr>
              <a:t>Home Office</a:t>
            </a:r>
            <a:r>
              <a:rPr lang="en-GB" sz="1400" dirty="0">
                <a:cs typeface="Arial" panose="020B0604020202020204" pitchFamily="34" charset="0"/>
              </a:rPr>
              <a:t>: £0.28M is the lowest profit contributor, possibly due to smaller order sizes or higher discount sensitivity.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C4A22A-BD2D-C9D4-8279-E0D1FEF77E76}"/>
              </a:ext>
            </a:extLst>
          </p:cNvPr>
          <p:cNvSpPr txBox="1"/>
          <p:nvPr/>
        </p:nvSpPr>
        <p:spPr>
          <a:xfrm>
            <a:off x="150314" y="5743869"/>
            <a:ext cx="88433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/>
              <a:t>The Consumer Segment not only drives volume but is also financially strategic. Corporate remains a solid mid-level performer, while Home Office shows potential for targeted growth strategies such as tailored marketing or product bundling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99"/>
            <a:ext cx="8229600" cy="885381"/>
          </a:xfrm>
        </p:spPr>
        <p:txBody>
          <a:bodyPr>
            <a:normAutofit/>
          </a:bodyPr>
          <a:lstStyle/>
          <a:p>
            <a:r>
              <a:rPr sz="3200" u="sng" dirty="0"/>
              <a:t>Top Regions &amp; Cities by Revenue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6A7E78-F3C2-B29F-FE0E-978C14B20178}"/>
              </a:ext>
            </a:extLst>
          </p:cNvPr>
          <p:cNvSpPr txBox="1"/>
          <p:nvPr/>
        </p:nvSpPr>
        <p:spPr>
          <a:xfrm>
            <a:off x="181627" y="6106439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cs typeface="Arial" panose="020B0604020202020204" pitchFamily="34" charset="0"/>
              </a:rPr>
              <a:t>The top city is New York with £256K in sales, </a:t>
            </a:r>
            <a:r>
              <a:rPr lang="en-GB" b="1" dirty="0">
                <a:cs typeface="Arial" panose="020B0604020202020204" pitchFamily="34" charset="0"/>
              </a:rPr>
              <a:t>across all segments</a:t>
            </a:r>
            <a:r>
              <a:rPr lang="en-GB" dirty="0">
                <a:cs typeface="Arial" panose="020B0604020202020204" pitchFamily="34" charset="0"/>
              </a:rPr>
              <a:t>, while the top region is the Central region accounting for 22% of total sales- £2.8M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4D6486-A927-C77F-6577-5DC0B3877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101" y="3550216"/>
            <a:ext cx="6989522" cy="23629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EB12A9-CF9E-36BE-BBA5-9F4F831EC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101" y="944880"/>
            <a:ext cx="6989522" cy="227631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83606"/>
          </a:xfrm>
        </p:spPr>
        <p:txBody>
          <a:bodyPr>
            <a:normAutofit/>
          </a:bodyPr>
          <a:lstStyle/>
          <a:p>
            <a:r>
              <a:rPr sz="3200" u="sng" dirty="0"/>
              <a:t>Category &amp; Sub-Category Contribution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1A9590-3761-8AB9-BF11-0645E5410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199319"/>
            <a:ext cx="4490581" cy="20824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4FDC47-39EB-F3F9-DCB2-2347CBDF9089}"/>
              </a:ext>
            </a:extLst>
          </p:cNvPr>
          <p:cNvSpPr txBox="1"/>
          <p:nvPr/>
        </p:nvSpPr>
        <p:spPr>
          <a:xfrm>
            <a:off x="5123145" y="1315233"/>
            <a:ext cx="37828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Technology is the largest contributor to across all segments, and accounts for 37% of total sales - £4.7M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67B64C-F81D-CB55-C27A-2A84A27CE2B1}"/>
              </a:ext>
            </a:extLst>
          </p:cNvPr>
          <p:cNvSpPr txBox="1"/>
          <p:nvPr/>
        </p:nvSpPr>
        <p:spPr>
          <a:xfrm>
            <a:off x="5123145" y="3665453"/>
            <a:ext cx="36200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Phones are the highest contributor to sales across all segments, accounting for 13% of total sales - £1.71M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9492D1-5F99-3268-F8BD-1ACAA69B4190}"/>
              </a:ext>
            </a:extLst>
          </p:cNvPr>
          <p:cNvSpPr txBox="1"/>
          <p:nvPr/>
        </p:nvSpPr>
        <p:spPr>
          <a:xfrm>
            <a:off x="457199" y="5899757"/>
            <a:ext cx="7866345" cy="671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Technology and Phones clearly have </a:t>
            </a:r>
            <a:r>
              <a:rPr lang="en-GB" b="1" dirty="0"/>
              <a:t>consistent customer demand</a:t>
            </a:r>
            <a:r>
              <a:rPr lang="en-GB" dirty="0"/>
              <a:t>, regardless of whether the buyer is Consumer, Corporate, or Home Office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C012EF-3FE8-674B-F4E5-C801E9574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3429000"/>
            <a:ext cx="4490580" cy="20824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296"/>
            <a:ext cx="8229600" cy="708264"/>
          </a:xfrm>
        </p:spPr>
        <p:txBody>
          <a:bodyPr>
            <a:normAutofit/>
          </a:bodyPr>
          <a:lstStyle/>
          <a:p>
            <a:r>
              <a:rPr lang="en-GB" sz="3200" u="sng" dirty="0"/>
              <a:t>Order </a:t>
            </a:r>
            <a:r>
              <a:rPr sz="3200" u="sng" dirty="0"/>
              <a:t>Priority vs Profitability Correlation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B1051F-8FC3-3E35-E771-0CE62EB35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088" y="3469711"/>
            <a:ext cx="4195912" cy="22274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F0C292-2D5E-428C-8454-266511905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088" y="1160854"/>
            <a:ext cx="4195912" cy="22274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9E34276-0F86-B870-8DA3-9D1275F61E66}"/>
              </a:ext>
            </a:extLst>
          </p:cNvPr>
          <p:cNvSpPr txBox="1"/>
          <p:nvPr/>
        </p:nvSpPr>
        <p:spPr>
          <a:xfrm>
            <a:off x="4747364" y="1252603"/>
            <a:ext cx="39394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Delivery speed aligns strongly with order priority. Critical orders are fulfilled in under 2 days on average, while low-priority orders take over 6 days. The system effectively prioritizes urgent orders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B2925D-D6AD-61FD-E2E4-59E001AA049B}"/>
              </a:ext>
            </a:extLst>
          </p:cNvPr>
          <p:cNvSpPr txBox="1"/>
          <p:nvPr/>
        </p:nvSpPr>
        <p:spPr>
          <a:xfrm>
            <a:off x="4572000" y="3627591"/>
            <a:ext cx="4572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/>
              <a:t>Medium-priority orders generate most of the total profit, contributing more than all other priority levels combined. High-priority and Critical orders also contribute positively, while Low-priority orders generate minimal profit.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113DB5-8E35-AEA7-989A-C9F0B0D7B7BA}"/>
              </a:ext>
            </a:extLst>
          </p:cNvPr>
          <p:cNvSpPr txBox="1"/>
          <p:nvPr/>
        </p:nvSpPr>
        <p:spPr>
          <a:xfrm>
            <a:off x="307041" y="5697146"/>
            <a:ext cx="852991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dirty="0"/>
              <a:t>Technology has the highest concentration of Medium-priority orders</a:t>
            </a:r>
            <a:r>
              <a:rPr lang="en-GB" sz="1600" dirty="0"/>
              <a:t>, it appears across all priority levels, indicating that Technology products serve a wide range of customer needs, from urgent business-critical purchases to low-urgency consumer orders.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7376"/>
            <a:ext cx="8229600" cy="747184"/>
          </a:xfrm>
        </p:spPr>
        <p:txBody>
          <a:bodyPr>
            <a:normAutofit/>
          </a:bodyPr>
          <a:lstStyle/>
          <a:p>
            <a:r>
              <a:rPr sz="3600" u="sng" dirty="0"/>
              <a:t>Shipping Mode </a:t>
            </a:r>
            <a:r>
              <a:rPr lang="en-GB" sz="3600" u="sng" dirty="0"/>
              <a:t>Analysis</a:t>
            </a:r>
            <a:endParaRPr sz="3600" u="sng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B0125BA-BC03-D93F-6497-45518C36B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923" y="1205670"/>
            <a:ext cx="3914772" cy="222333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E45F7F8-43A4-226E-58A8-EFEACA6E3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1972" y="1205670"/>
            <a:ext cx="3914772" cy="222333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9BAB5B9-6974-2050-0163-50C203A7BB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924" y="3560564"/>
            <a:ext cx="3914772" cy="222333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9B73384-198B-CC88-8619-EE36E98A20B5}"/>
              </a:ext>
            </a:extLst>
          </p:cNvPr>
          <p:cNvSpPr txBox="1"/>
          <p:nvPr/>
        </p:nvSpPr>
        <p:spPr>
          <a:xfrm>
            <a:off x="4303076" y="3800800"/>
            <a:ext cx="457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Standard shipping accounts for </a:t>
            </a:r>
            <a:r>
              <a:rPr lang="en-GB" sz="1600" b="1" dirty="0"/>
              <a:t>60% of all orders</a:t>
            </a:r>
            <a:r>
              <a:rPr lang="en-GB" sz="1600" dirty="0"/>
              <a:t>, making it the most widely used ship mode.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Every Category relies heavily on standard shipping</a:t>
            </a:r>
            <a:r>
              <a:rPr lang="en-GB" sz="1600" dirty="0"/>
              <a:t>: Office Supplies, Technology, and Furniture all show their highest shipment volumes under Standard Class.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Office Supplies </a:t>
            </a:r>
            <a:r>
              <a:rPr lang="en-GB" sz="1600" b="1" dirty="0"/>
              <a:t>show the highest shipping counts</a:t>
            </a:r>
            <a:r>
              <a:rPr lang="en-GB" sz="1600" dirty="0"/>
              <a:t> across all modes; Standard, Second Class, First Class, and even Same Day.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48097"/>
          </a:xfrm>
        </p:spPr>
        <p:txBody>
          <a:bodyPr>
            <a:normAutofit/>
          </a:bodyPr>
          <a:lstStyle/>
          <a:p>
            <a:r>
              <a:rPr sz="3600" u="sng" dirty="0"/>
              <a:t>Shipping Mode Impact on Profit Margins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47675B-0B8F-A83C-0B05-FF478B3D7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0997"/>
            <a:ext cx="4027118" cy="23025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7626A0-ABD9-D1E3-414B-369B94FB1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9682" y="1290996"/>
            <a:ext cx="4027118" cy="23025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A4A9F3E-851D-E09A-2587-D4253553E237}"/>
              </a:ext>
            </a:extLst>
          </p:cNvPr>
          <p:cNvSpPr txBox="1"/>
          <p:nvPr/>
        </p:nvSpPr>
        <p:spPr>
          <a:xfrm>
            <a:off x="4659682" y="3751122"/>
            <a:ext cx="402711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/>
              <a:t>Gross profit is consistent across shipping methods, Standard 11.6%, Second 11.58%, First 11.4%, Same Day 11.2%, showing that faster shipping has minimal impact on profitability. Standard shipping not only leads in volume but also drives most of the net profit at </a:t>
            </a:r>
            <a:r>
              <a:rPr lang="en-GB" sz="1600" b="1" dirty="0"/>
              <a:t>£263K.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9B0D81E-6295-E13A-42CD-A22A65542E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56910"/>
            <a:ext cx="4027118" cy="22783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36838"/>
          </a:xfrm>
        </p:spPr>
        <p:txBody>
          <a:bodyPr>
            <a:normAutofit/>
          </a:bodyPr>
          <a:lstStyle/>
          <a:p>
            <a:r>
              <a:rPr sz="3200" u="sng" dirty="0"/>
              <a:t>Most Profitable Segments / </a:t>
            </a:r>
            <a:r>
              <a:rPr lang="en-GB" sz="3200" u="sng" dirty="0"/>
              <a:t>Categories</a:t>
            </a:r>
            <a:endParaRPr sz="3200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676DC9-318A-76BA-0BB4-87DD1EED7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278" y="1138045"/>
            <a:ext cx="4186040" cy="22909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D8AFA1-05DC-499B-D1BE-9DC946A598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9684" y="1138044"/>
            <a:ext cx="4186040" cy="229095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10F0550-AEF5-E3CB-525F-C25B2834142F}"/>
              </a:ext>
            </a:extLst>
          </p:cNvPr>
          <p:cNvSpPr txBox="1"/>
          <p:nvPr/>
        </p:nvSpPr>
        <p:spPr>
          <a:xfrm>
            <a:off x="4659684" y="3858016"/>
            <a:ext cx="388306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United States is the most profitable country across all segments.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The most profitable segment is the Consumer segment contributing £750K to Total Profit.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Technology contributes the most to profit across all segments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CFFC54-A1E6-E78C-8858-D8594BB5DB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278" y="3620479"/>
            <a:ext cx="4186040" cy="22909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82598"/>
          </a:xfrm>
        </p:spPr>
        <p:txBody>
          <a:bodyPr>
            <a:normAutofit/>
          </a:bodyPr>
          <a:lstStyle/>
          <a:p>
            <a:r>
              <a:rPr dirty="0"/>
              <a:t> </a:t>
            </a:r>
            <a:r>
              <a:rPr sz="3600" u="sng" dirty="0"/>
              <a:t>Discount Impact on Sales &amp; Profitability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947C99-47F5-43C3-C406-AD48D53B9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042" y="1417639"/>
            <a:ext cx="4265958" cy="23777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10FE40-F6DD-317A-5F27-9216C9458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7470" y="1461480"/>
            <a:ext cx="4189110" cy="22900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4C4CFC7-D43D-C9D5-81B6-31A94D4D060F}"/>
              </a:ext>
            </a:extLst>
          </p:cNvPr>
          <p:cNvSpPr txBox="1"/>
          <p:nvPr/>
        </p:nvSpPr>
        <p:spPr>
          <a:xfrm>
            <a:off x="306042" y="4011949"/>
            <a:ext cx="868053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For Category:</a:t>
            </a:r>
          </a:p>
          <a:p>
            <a:r>
              <a:rPr lang="en-GB" sz="1600" b="1" dirty="0"/>
              <a:t>Higher average discounts are linked with lower total profit</a:t>
            </a:r>
            <a:r>
              <a:rPr lang="en-GB" sz="1600" dirty="0"/>
              <a:t>.</a:t>
            </a:r>
            <a:br>
              <a:rPr lang="en-GB" sz="1600" dirty="0"/>
            </a:br>
            <a:r>
              <a:rPr lang="en-GB" sz="1600" dirty="0"/>
              <a:t>This is evident as Furniture has the highest discount (0.17) and the lowest profit (£0.28M), while Technology has the lowest discount (0.13) and the highest profit (£0.66M).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/>
              <a:t>For Segment:</a:t>
            </a:r>
          </a:p>
          <a:p>
            <a:r>
              <a:rPr lang="en-GB" sz="1600" b="1" dirty="0"/>
              <a:t> Higher average discounts correlate with higher profit.</a:t>
            </a:r>
            <a:br>
              <a:rPr lang="en-GB" sz="1600" b="1" dirty="0"/>
            </a:br>
            <a:r>
              <a:rPr lang="en-GB" sz="1600" dirty="0"/>
              <a:t>This is shown by Consumer having the highest discount (0.142) and highest profit (£0.75M), while Home Office has the lowest profit (£0.28M) and lowest discount.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2558"/>
            <a:ext cx="8229600" cy="1143000"/>
          </a:xfrm>
        </p:spPr>
        <p:txBody>
          <a:bodyPr>
            <a:normAutofit/>
          </a:bodyPr>
          <a:lstStyle/>
          <a:p>
            <a:r>
              <a:rPr lang="en-GB" sz="3200" u="sng" dirty="0"/>
              <a:t>Yearly</a:t>
            </a:r>
            <a:r>
              <a:rPr sz="3200" u="sng" dirty="0"/>
              <a:t>/Quarterly Sales Trends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E947C4-7C8D-967E-E264-FB09A1AA2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292" y="1164439"/>
            <a:ext cx="3260348" cy="18835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A69FE2-802E-D778-6535-1E34F7B2F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549" y="1164439"/>
            <a:ext cx="2510532" cy="18835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90E79FA-9E79-B02D-4DF7-4292E35ABC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7176" y="1164439"/>
            <a:ext cx="2510532" cy="189165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A6EFC0B-F47A-DA4D-235E-01452F147C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292" y="3155799"/>
            <a:ext cx="2510532" cy="189165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8E00030-E20C-EA6C-68AF-E501A3E4D8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7892" y="3155799"/>
            <a:ext cx="2510532" cy="189165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873E852-B816-072E-277B-CB00F65BE6D3}"/>
              </a:ext>
            </a:extLst>
          </p:cNvPr>
          <p:cNvSpPr txBox="1"/>
          <p:nvPr/>
        </p:nvSpPr>
        <p:spPr>
          <a:xfrm>
            <a:off x="5488424" y="3155799"/>
            <a:ext cx="349301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Sales increased steadily from </a:t>
            </a:r>
            <a:r>
              <a:rPr lang="en-GB" sz="1600" b="1" dirty="0"/>
              <a:t>£2.3M in 2011</a:t>
            </a:r>
            <a:r>
              <a:rPr lang="en-GB" sz="1600" dirty="0"/>
              <a:t> to </a:t>
            </a:r>
            <a:r>
              <a:rPr lang="en-GB" sz="1600" b="1" dirty="0"/>
              <a:t>£4.3M in 2014</a:t>
            </a:r>
            <a:r>
              <a:rPr lang="en-GB" sz="1600" dirty="0"/>
              <a:t>, showing a </a:t>
            </a:r>
            <a:r>
              <a:rPr lang="en-GB" sz="1600" b="1" dirty="0"/>
              <a:t>near-doubling of revenue</a:t>
            </a:r>
            <a:r>
              <a:rPr lang="en-GB" sz="1600" dirty="0"/>
              <a:t> within just four years.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Across all four years, </a:t>
            </a:r>
            <a:r>
              <a:rPr lang="en-GB" sz="1600" b="1" dirty="0"/>
              <a:t>Q4 repeatedly delivers the highest sales</a:t>
            </a:r>
            <a:r>
              <a:rPr lang="en-GB" sz="1600" dirty="0"/>
              <a:t>, with values rising from </a:t>
            </a:r>
            <a:r>
              <a:rPr lang="en-GB" sz="1600" b="1" dirty="0"/>
              <a:t>£0.84M in 2011</a:t>
            </a:r>
            <a:r>
              <a:rPr lang="en-GB" sz="1600" dirty="0"/>
              <a:t> to </a:t>
            </a:r>
            <a:r>
              <a:rPr lang="en-GB" sz="1600" b="1" dirty="0"/>
              <a:t>£1.54M in 2014</a:t>
            </a:r>
            <a:r>
              <a:rPr lang="en-GB" sz="1600" dirty="0"/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49F82A-2645-04BF-E22E-6CA3C4912A5B}"/>
              </a:ext>
            </a:extLst>
          </p:cNvPr>
          <p:cNvSpPr txBox="1"/>
          <p:nvPr/>
        </p:nvSpPr>
        <p:spPr>
          <a:xfrm>
            <a:off x="177295" y="5401173"/>
            <a:ext cx="850950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/>
              <a:t>All quarters in 2014 outperform the same period in previous years. Q3 and Q4 2014 show particularly strong performance, reaching </a:t>
            </a:r>
            <a:r>
              <a:rPr lang="en-GB" sz="1600" b="1" dirty="0"/>
              <a:t>£1.27M</a:t>
            </a:r>
            <a:r>
              <a:rPr lang="en-GB" sz="1600" dirty="0"/>
              <a:t> and </a:t>
            </a:r>
            <a:r>
              <a:rPr lang="en-GB" sz="1600" b="1" dirty="0"/>
              <a:t>£1.54M</a:t>
            </a:r>
            <a:r>
              <a:rPr lang="en-GB" sz="1600" dirty="0"/>
              <a:t> respectively.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2642"/>
          </a:xfrm>
        </p:spPr>
        <p:txBody>
          <a:bodyPr>
            <a:normAutofit/>
          </a:bodyPr>
          <a:lstStyle/>
          <a:p>
            <a:r>
              <a:rPr sz="3200" u="sng" dirty="0"/>
              <a:t>Customer Lifetime Value (CLV) Across Segments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8B2382-72F1-A429-5B9A-79398F2D6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950" y="1990654"/>
            <a:ext cx="2511370" cy="15863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B03F1F-BECF-CB8C-E10E-D0D6F6CC2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950" y="3753098"/>
            <a:ext cx="2511370" cy="17362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3F6FB64-8820-97AD-F1C0-7DB202D09E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673" y="1990655"/>
            <a:ext cx="2434245" cy="158636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811C162-58D9-2F83-F965-183909D9D596}"/>
              </a:ext>
            </a:extLst>
          </p:cNvPr>
          <p:cNvSpPr txBox="1"/>
          <p:nvPr/>
        </p:nvSpPr>
        <p:spPr>
          <a:xfrm>
            <a:off x="5509330" y="3524297"/>
            <a:ext cx="351536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There is a </a:t>
            </a:r>
            <a:r>
              <a:rPr lang="en-GB" sz="1400" b="1" dirty="0"/>
              <a:t>clear top performer</a:t>
            </a:r>
            <a:r>
              <a:rPr lang="en-GB" sz="1400" dirty="0"/>
              <a:t>, with the highest customer CLV at </a:t>
            </a:r>
            <a:r>
              <a:rPr lang="en-GB" sz="1400" b="1" dirty="0"/>
              <a:t>£3.6K</a:t>
            </a:r>
            <a:r>
              <a:rPr lang="en-GB" sz="1400" dirty="0"/>
              <a:t>, significantly above the rest, and worth </a:t>
            </a:r>
            <a:r>
              <a:rPr lang="en-GB" sz="1400" b="1" dirty="0"/>
              <a:t>65% more</a:t>
            </a:r>
            <a:r>
              <a:rPr lang="en-GB" sz="1400" dirty="0"/>
              <a:t> than the second-highest customer.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/>
              <a:t>Home Office</a:t>
            </a:r>
            <a:r>
              <a:rPr lang="en-GB" sz="1400" dirty="0"/>
              <a:t> has the </a:t>
            </a:r>
            <a:r>
              <a:rPr lang="en-GB" sz="1400" b="1" dirty="0"/>
              <a:t>highest CLV</a:t>
            </a:r>
            <a:r>
              <a:rPr lang="en-GB" sz="1400" dirty="0"/>
              <a:t> £805, followed by </a:t>
            </a:r>
            <a:r>
              <a:rPr lang="en-GB" sz="1400" b="1" dirty="0"/>
              <a:t>Corporate</a:t>
            </a:r>
            <a:r>
              <a:rPr lang="en-GB" sz="1400" dirty="0"/>
              <a:t> £784 and </a:t>
            </a:r>
            <a:r>
              <a:rPr lang="en-GB" sz="1400" b="1" dirty="0"/>
              <a:t>Consumer</a:t>
            </a:r>
            <a:r>
              <a:rPr lang="en-GB" sz="1400" dirty="0"/>
              <a:t> £777.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/>
              <a:t>North Asia</a:t>
            </a:r>
            <a:r>
              <a:rPr lang="en-GB" sz="1400" dirty="0"/>
              <a:t> and </a:t>
            </a:r>
            <a:r>
              <a:rPr lang="en-GB" sz="1400" b="1" dirty="0"/>
              <a:t>Central Asia</a:t>
            </a:r>
            <a:r>
              <a:rPr lang="en-GB" sz="1400" dirty="0"/>
              <a:t> stand out with </a:t>
            </a:r>
            <a:r>
              <a:rPr lang="en-GB" sz="1400" b="1" dirty="0"/>
              <a:t>CLV above £1,100, </a:t>
            </a:r>
            <a:r>
              <a:rPr lang="en-GB" sz="1400" dirty="0"/>
              <a:t>substantially higher than all other regions.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F52943-AD74-2EEF-D96D-5E2975DE216A}"/>
              </a:ext>
            </a:extLst>
          </p:cNvPr>
          <p:cNvSpPr txBox="1"/>
          <p:nvPr/>
        </p:nvSpPr>
        <p:spPr>
          <a:xfrm>
            <a:off x="302950" y="5986511"/>
            <a:ext cx="844481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/>
              <a:t>Technology</a:t>
            </a:r>
            <a:r>
              <a:rPr lang="en-GB" sz="1400" dirty="0"/>
              <a:t> leads with </a:t>
            </a:r>
            <a:r>
              <a:rPr lang="en-GB" sz="1400" b="1" dirty="0"/>
              <a:t>£3.0K CLV</a:t>
            </a:r>
            <a:r>
              <a:rPr lang="en-GB" sz="1400" dirty="0"/>
              <a:t>, followed by </a:t>
            </a:r>
            <a:r>
              <a:rPr lang="en-GB" sz="1400" b="1" dirty="0"/>
              <a:t>Furniture</a:t>
            </a:r>
            <a:r>
              <a:rPr lang="en-GB" sz="1400" dirty="0"/>
              <a:t> £2.7K and </a:t>
            </a:r>
            <a:r>
              <a:rPr lang="en-GB" sz="1400" b="1" dirty="0"/>
              <a:t>Office Supplies</a:t>
            </a:r>
            <a:r>
              <a:rPr lang="en-GB" sz="1400" dirty="0"/>
              <a:t> £2.1K.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The spread between highest and lowest categories is significant with </a:t>
            </a:r>
            <a:r>
              <a:rPr lang="en-GB" sz="1400" b="1" dirty="0"/>
              <a:t>43% difference</a:t>
            </a:r>
            <a:r>
              <a:rPr lang="en-GB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/>
              <a:t>Taiwan</a:t>
            </a:r>
            <a:r>
              <a:rPr lang="en-GB" sz="1400" dirty="0"/>
              <a:t> and </a:t>
            </a:r>
            <a:r>
              <a:rPr lang="en-GB" sz="1400" b="1" dirty="0"/>
              <a:t>Montenegro</a:t>
            </a:r>
            <a:r>
              <a:rPr lang="en-GB" sz="1400" dirty="0"/>
              <a:t> are exceptionally high-value markets, with CLV around </a:t>
            </a:r>
            <a:r>
              <a:rPr lang="en-GB" sz="1400" b="1" dirty="0"/>
              <a:t>£3.9K and £3.0K</a:t>
            </a:r>
            <a:r>
              <a:rPr lang="en-GB" sz="1400" dirty="0"/>
              <a:t>.</a:t>
            </a:r>
          </a:p>
          <a:p>
            <a:endParaRPr lang="en-GB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48DEC5-30E6-ADBD-C48E-DE911B155726}"/>
              </a:ext>
            </a:extLst>
          </p:cNvPr>
          <p:cNvSpPr txBox="1"/>
          <p:nvPr/>
        </p:nvSpPr>
        <p:spPr>
          <a:xfrm>
            <a:off x="302950" y="1163357"/>
            <a:ext cx="84143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0" i="1" dirty="0">
                <a:solidFill>
                  <a:srgbClr val="0A0A0A"/>
                </a:solidFill>
                <a:effectLst/>
              </a:rPr>
              <a:t>Customer lifetime value (CLV) is </a:t>
            </a:r>
            <a:r>
              <a:rPr lang="en-GB" sz="1400" i="1" dirty="0"/>
              <a:t>the total revenue a business can expect from a single customer throughout their entire relationship</a:t>
            </a:r>
            <a:r>
              <a:rPr lang="en-GB" sz="1400" b="0" i="1" dirty="0">
                <a:solidFill>
                  <a:srgbClr val="0A0A0A"/>
                </a:solidFill>
                <a:effectLst/>
              </a:rPr>
              <a:t>.</a:t>
            </a:r>
            <a:endParaRPr lang="en-GB" sz="1400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B7431E-27EE-9261-220C-11D85C50E5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4254" y="3729517"/>
            <a:ext cx="2427664" cy="17834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C8B19D-6946-A9BB-6932-24F6FF5EB3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9330" y="1967819"/>
            <a:ext cx="2511370" cy="160920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29602"/>
          </a:xfrm>
        </p:spPr>
        <p:txBody>
          <a:bodyPr>
            <a:normAutofit/>
          </a:bodyPr>
          <a:lstStyle/>
          <a:p>
            <a:r>
              <a:rPr sz="3200" u="sng" dirty="0"/>
              <a:t>Segment Performance Across Global Regions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ADE181-778E-DAB8-89BB-0F11A251BC59}"/>
              </a:ext>
            </a:extLst>
          </p:cNvPr>
          <p:cNvSpPr txBox="1"/>
          <p:nvPr/>
        </p:nvSpPr>
        <p:spPr>
          <a:xfrm>
            <a:off x="457200" y="5413811"/>
            <a:ext cx="840232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/>
              <a:t>Central</a:t>
            </a:r>
            <a:r>
              <a:rPr lang="en-GB" sz="1400" dirty="0"/>
              <a:t> is by far the highest-performing region across all segments.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The </a:t>
            </a:r>
            <a:r>
              <a:rPr lang="en-GB" sz="1400" b="1" dirty="0"/>
              <a:t>Consumer segment consistently delivers the highest sales</a:t>
            </a:r>
            <a:r>
              <a:rPr lang="en-GB" sz="1400" dirty="0"/>
              <a:t> in every region.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Corporate is the </a:t>
            </a:r>
            <a:r>
              <a:rPr lang="en-GB" sz="1400" b="1" dirty="0"/>
              <a:t>middle performer</a:t>
            </a:r>
            <a:r>
              <a:rPr lang="en-GB" sz="1400" dirty="0"/>
              <a:t> across most regions.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Home Office contributes the lowest revenue </a:t>
            </a:r>
            <a:r>
              <a:rPr lang="en-GB" sz="1400" b="1" dirty="0"/>
              <a:t>in every region.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South and North Regions Are Strong Secondary Markets.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B2FEF0-41C6-F3E5-2F70-14CD1DD39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88" y="1325207"/>
            <a:ext cx="8402223" cy="388289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41C802-2C8F-4425-C19F-A9080E538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6028A-E510-BA0D-094E-DE7C14B43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1598"/>
            <a:ext cx="8229600" cy="629602"/>
          </a:xfrm>
        </p:spPr>
        <p:txBody>
          <a:bodyPr>
            <a:normAutofit/>
          </a:bodyPr>
          <a:lstStyle/>
          <a:p>
            <a:r>
              <a:rPr lang="en-GB" sz="3200" u="sng" dirty="0"/>
              <a:t>Recommendations</a:t>
            </a:r>
            <a:endParaRPr sz="3200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9828C7-5FF5-3227-8C6B-607986EA0693}"/>
              </a:ext>
            </a:extLst>
          </p:cNvPr>
          <p:cNvSpPr txBox="1"/>
          <p:nvPr/>
        </p:nvSpPr>
        <p:spPr>
          <a:xfrm>
            <a:off x="238760" y="792480"/>
            <a:ext cx="866648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GB" b="1" dirty="0"/>
              <a:t>Strengthen Focus on High-Value Segments and Products</a:t>
            </a:r>
            <a:r>
              <a:rPr lang="en-GB" b="1" i="1" dirty="0"/>
              <a:t>: Consumer drives the highest sales at £6.5M and highest profit £0.75M. </a:t>
            </a:r>
            <a:r>
              <a:rPr lang="en-US" altLang="en-US" dirty="0"/>
              <a:t>Expand targeted campaigns for Consumer buyers and develop loyalty programs that reward repeat technology purchases. </a:t>
            </a:r>
          </a:p>
          <a:p>
            <a:pPr algn="just"/>
            <a:endParaRPr lang="en-US" altLang="en-US" dirty="0"/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altLang="en-US" b="1" dirty="0"/>
              <a:t>Increase Strategic Focus on Technology and phones</a:t>
            </a:r>
            <a:r>
              <a:rPr lang="en-US" altLang="en-US" b="1" i="1" dirty="0"/>
              <a:t>: </a:t>
            </a:r>
            <a:r>
              <a:rPr lang="en-GB" b="1" i="1" dirty="0"/>
              <a:t>Technology is the largest revenue category £4.7M, and Phones are the top subcategory £1.71M</a:t>
            </a:r>
            <a:r>
              <a:rPr lang="en-GB" b="1" dirty="0"/>
              <a:t>. </a:t>
            </a:r>
            <a:r>
              <a:rPr lang="en-GB" dirty="0"/>
              <a:t>Increase product range, bundles, and cross-sell opportunities, and launch premium upsell programs (e.g., warranties, accessories).</a:t>
            </a:r>
          </a:p>
          <a:p>
            <a:pPr algn="just"/>
            <a:endParaRPr lang="en-GB" dirty="0"/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GB" b="1" dirty="0"/>
              <a:t>Improve Profitability Through Smarter Discount &amp; Priority Management</a:t>
            </a:r>
            <a:r>
              <a:rPr lang="en-GB" dirty="0"/>
              <a:t>: Reduce discounts in Low-Profit Categories such as Furniture. Optimize Order Priority Profit Structure by encouraging customers toward medium-priority orders through small incentives. Profitability can be maintained by reviewing costs associated with Critical/High priority orders.</a:t>
            </a:r>
          </a:p>
          <a:p>
            <a:pPr algn="just"/>
            <a:endParaRPr lang="en-GB" dirty="0"/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GB" b="1" dirty="0"/>
              <a:t>Invest More in High-Performing Regions</a:t>
            </a:r>
            <a:r>
              <a:rPr lang="en-GB" dirty="0"/>
              <a:t>: </a:t>
            </a:r>
            <a:r>
              <a:rPr lang="en-GB" b="1" dirty="0"/>
              <a:t>Central with £2.82M sales</a:t>
            </a:r>
            <a:r>
              <a:rPr lang="en-GB" dirty="0"/>
              <a:t> (critical growth market), </a:t>
            </a:r>
            <a:r>
              <a:rPr lang="en-GB" b="1" dirty="0"/>
              <a:t>North Asia &amp; Central Asia</a:t>
            </a:r>
            <a:r>
              <a:rPr lang="en-GB" dirty="0"/>
              <a:t> show </a:t>
            </a:r>
            <a:r>
              <a:rPr lang="en-GB" b="1" dirty="0"/>
              <a:t>industry-leading CLV</a:t>
            </a:r>
            <a:r>
              <a:rPr lang="en-GB" dirty="0"/>
              <a:t> &gt;£1,100. Increase marketing spend and sales capacity here. For low performing regions (Caribbean, Canada, East, West), review fulfilment costs, competition levels, and pricing, and consider targeted micro-campaigns before committing large budgets.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241701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EB31BB-CD1F-86C2-565F-88906FA32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FC254-DDFA-BC0A-A43D-6DD344DB6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1598"/>
            <a:ext cx="8229600" cy="629602"/>
          </a:xfrm>
        </p:spPr>
        <p:txBody>
          <a:bodyPr>
            <a:normAutofit/>
          </a:bodyPr>
          <a:lstStyle/>
          <a:p>
            <a:r>
              <a:rPr lang="en-GB" sz="3200" u="sng" dirty="0"/>
              <a:t>Recommendations</a:t>
            </a:r>
            <a:endParaRPr sz="3200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C2A895-AFDA-0BF0-1BFD-54352AB7843E}"/>
              </a:ext>
            </a:extLst>
          </p:cNvPr>
          <p:cNvSpPr txBox="1"/>
          <p:nvPr/>
        </p:nvSpPr>
        <p:spPr>
          <a:xfrm>
            <a:off x="101600" y="662256"/>
            <a:ext cx="8666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sz="16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AD2249-A3C5-B25B-0C9C-0C7B2F6F5797}"/>
              </a:ext>
            </a:extLst>
          </p:cNvPr>
          <p:cNvSpPr txBox="1"/>
          <p:nvPr/>
        </p:nvSpPr>
        <p:spPr>
          <a:xfrm>
            <a:off x="238760" y="711200"/>
            <a:ext cx="8666480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GB" b="1" dirty="0"/>
              <a:t>Improve Shipping Profitability</a:t>
            </a:r>
            <a:r>
              <a:rPr lang="en-GB" dirty="0"/>
              <a:t>: Standard shipping represents </a:t>
            </a:r>
            <a:r>
              <a:rPr lang="en-GB" b="1" dirty="0"/>
              <a:t>60% of all orders and d</a:t>
            </a:r>
            <a:r>
              <a:rPr lang="en-GB" dirty="0"/>
              <a:t>elivers </a:t>
            </a:r>
            <a:r>
              <a:rPr lang="en-GB" b="1" dirty="0"/>
              <a:t>highest profit £263K. </a:t>
            </a:r>
            <a:r>
              <a:rPr lang="en-GB" dirty="0"/>
              <a:t>Encourage customers to choose Standard by highlighting savings and defaulting Standard as the pre-selected option in checkout.</a:t>
            </a:r>
          </a:p>
          <a:p>
            <a:pPr algn="just"/>
            <a:endParaRPr lang="en-GB" dirty="0"/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GB" b="1" dirty="0"/>
              <a:t>Prioritize High-Value Countries for Expansion: </a:t>
            </a:r>
            <a:r>
              <a:rPr lang="en-GB" dirty="0"/>
              <a:t>Top CLV countries, Taiwan £3.9K and Montenegro £3.0K. Expand presence or partnerships in top CLV locations and increase region-specific marketing and promotions.</a:t>
            </a:r>
          </a:p>
          <a:p>
            <a:pPr algn="just"/>
            <a:endParaRPr lang="en-GB" b="1" dirty="0"/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GB" b="1" dirty="0"/>
              <a:t>Leverage Q4 as a Peak Sales Period</a:t>
            </a:r>
            <a:r>
              <a:rPr lang="en-GB" dirty="0"/>
              <a:t>: </a:t>
            </a:r>
            <a:r>
              <a:rPr lang="en-GB" b="1" i="1" dirty="0"/>
              <a:t>Q4 is consistently the highest performing season</a:t>
            </a:r>
            <a:r>
              <a:rPr lang="en-GB" dirty="0"/>
              <a:t>. Front-load Q4 with major campaigns to increase sales. Expand inventory before Q4 to avoid shortages Also use YoY growth trends for forecasting as sales nearly doubled from </a:t>
            </a:r>
            <a:r>
              <a:rPr lang="en-GB" b="1" dirty="0"/>
              <a:t>£2.3M (2011)</a:t>
            </a:r>
            <a:r>
              <a:rPr lang="en-GB" dirty="0"/>
              <a:t> to </a:t>
            </a:r>
            <a:r>
              <a:rPr lang="en-GB" b="1" dirty="0"/>
              <a:t>£4.3M (2014).</a:t>
            </a:r>
          </a:p>
          <a:p>
            <a:pPr algn="just"/>
            <a:endParaRPr lang="en-GB" b="1" dirty="0"/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GB" b="1" dirty="0"/>
              <a:t>Strengthen Pricing and Product Strategy for Home Office Segment</a:t>
            </a:r>
            <a:r>
              <a:rPr lang="en-GB" dirty="0"/>
              <a:t>: Home Office is the lowest-performing segment in both sales and profit. Reassess the Home Office product portfolio and conduct customer research to understand barriers to adoption.</a:t>
            </a:r>
          </a:p>
          <a:p>
            <a:pPr algn="just"/>
            <a:endParaRPr lang="en-GB" dirty="0"/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GB" b="1" dirty="0"/>
              <a:t>Adopt City-Level Strategy</a:t>
            </a:r>
            <a:r>
              <a:rPr lang="en-GB" dirty="0"/>
              <a:t>: </a:t>
            </a:r>
            <a:r>
              <a:rPr lang="en-GB" b="1" dirty="0"/>
              <a:t>New York leads all cities £256K, </a:t>
            </a:r>
            <a:r>
              <a:rPr lang="en-GB" dirty="0"/>
              <a:t>far above the rest. Focus sales efforts on top metropolitan areas. Build city-specific campaigns (local events, citywide promotions).</a:t>
            </a:r>
          </a:p>
          <a:p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158989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6310</TotalTime>
  <Words>1513</Words>
  <Application>Microsoft Office PowerPoint</Application>
  <PresentationFormat>On-screen Show (4:3)</PresentationFormat>
  <Paragraphs>100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Wingdings</vt:lpstr>
      <vt:lpstr>Office Theme</vt:lpstr>
      <vt:lpstr>Customer Segmentation Analysis</vt:lpstr>
      <vt:lpstr>Table of Content</vt:lpstr>
      <vt:lpstr>Introduction</vt:lpstr>
      <vt:lpstr>Workflow</vt:lpstr>
      <vt:lpstr>SUMMARY OF KEY INSIGHTS</vt:lpstr>
      <vt:lpstr>Sales &amp; Profit by Customer Segment</vt:lpstr>
      <vt:lpstr>Top Regions &amp; Cities by Revenue</vt:lpstr>
      <vt:lpstr>Category &amp; Sub-Category Contribution</vt:lpstr>
      <vt:lpstr>Order Priority vs Profitability Correlation</vt:lpstr>
      <vt:lpstr>Shipping Mode Analysis</vt:lpstr>
      <vt:lpstr>Shipping Mode Impact on Profit Margins</vt:lpstr>
      <vt:lpstr>Most Profitable Segments / Categories</vt:lpstr>
      <vt:lpstr> Discount Impact on Sales &amp; Profitability</vt:lpstr>
      <vt:lpstr>Yearly/Quarterly Sales Trends</vt:lpstr>
      <vt:lpstr>Customer Lifetime Value (CLV) Across Segments</vt:lpstr>
      <vt:lpstr>Segment Performance Across Global Regions</vt:lpstr>
      <vt:lpstr>Recommendations</vt:lpstr>
      <vt:lpstr>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Seyi Adeyemi</dc:creator>
  <cp:keywords/>
  <dc:description>generated using python-pptx</dc:description>
  <cp:lastModifiedBy>Seyi Adeyemi</cp:lastModifiedBy>
  <cp:revision>9</cp:revision>
  <dcterms:created xsi:type="dcterms:W3CDTF">2013-01-27T09:14:16Z</dcterms:created>
  <dcterms:modified xsi:type="dcterms:W3CDTF">2025-11-21T20:24:33Z</dcterms:modified>
  <cp:category/>
</cp:coreProperties>
</file>